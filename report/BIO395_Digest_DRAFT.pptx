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74320"/>
            <a:ext cx="10881360" cy="1280160"/>
          </a:xfrm>
          <a:prstGeom prst="rect">
            <a:avLst/>
          </a:prstGeom>
          <a:noFill/>
        </p:spPr>
        <p:txBody>
          <a:bodyPr wrap="square">
            <a:spAutoFit/>
          </a:bodyPr>
          <a:lstStyle/>
          <a:p>
            <a:pPr algn="ctr"/>
            <a:r>
              <a:rPr sz="2400" b="1" i="0">
                <a:solidFill>
                  <a:srgbClr val="1F4E79"/>
                </a:solidFill>
                <a:latin typeface="Times New Roman"/>
              </a:rPr>
              <a:t>Educational DNA–RNA Tumour Profiling Pipeline and Visualization Platform</a:t>
            </a:r>
          </a:p>
          <a:p>
            <a:pPr algn="ctr"/>
            <a:r>
              <a:rPr sz="1300" b="1" i="0">
                <a:solidFill>
                  <a:srgbClr val="C00000"/>
                </a:solidFill>
                <a:latin typeface="Times New Roman"/>
              </a:rPr>
              <a:t>[COMPANY NAME / ADDRESS]</a:t>
            </a:r>
          </a:p>
          <a:p>
            <a:pPr algn="ctr"/>
            <a:r>
              <a:rPr sz="1300" b="1" i="0">
                <a:solidFill>
                  <a:srgbClr val="C00000"/>
                </a:solidFill>
                <a:latin typeface="Times New Roman"/>
              </a:rPr>
              <a:t>[DURATION OF PROJECT: month day – month day, year]</a:t>
            </a:r>
          </a:p>
          <a:p>
            <a:pPr algn="ctr"/>
            <a:r>
              <a:rPr sz="1300" b="1" i="0">
                <a:solidFill>
                  <a:srgbClr val="C00000"/>
                </a:solidFill>
                <a:latin typeface="Times New Roman"/>
              </a:rPr>
              <a:t>[STUDENT NAME / PROGRAMME]</a:t>
            </a:r>
          </a:p>
        </p:txBody>
      </p:sp>
      <p:sp>
        <p:nvSpPr>
          <p:cNvPr id="3" name="TextBox 2"/>
          <p:cNvSpPr txBox="1"/>
          <p:nvPr/>
        </p:nvSpPr>
        <p:spPr>
          <a:xfrm>
            <a:off x="640080" y="1828800"/>
            <a:ext cx="10881360" cy="1417320"/>
          </a:xfrm>
          <a:prstGeom prst="rect">
            <a:avLst/>
          </a:prstGeom>
          <a:noFill/>
        </p:spPr>
        <p:txBody>
          <a:bodyPr wrap="square">
            <a:spAutoFit/>
          </a:bodyPr>
          <a:lstStyle/>
          <a:p>
            <a:r>
              <a:rPr sz="1400" b="1" i="0">
                <a:solidFill>
                  <a:srgbClr val="1A1A1A"/>
                </a:solidFill>
                <a:latin typeface="Times New Roman"/>
              </a:rPr>
              <a:t>PROJECT OBJECTIVE &amp; EXPECTATIONS</a:t>
            </a:r>
          </a:p>
          <a:p>
            <a:r>
              <a:rPr sz="1250" b="0" i="0">
                <a:solidFill>
                  <a:srgbClr val="1A1A1A"/>
                </a:solidFill>
                <a:latin typeface="Times New Roman"/>
              </a:rPr>
              <a:t>To build a reproducible, documented pipeline that takes tumour DNA and RNA sequencing from a targeted cancer panel through to an interpreted summary — variant calling, clinical tiering, fusion detection and reporting — and to make every step inspectable rather than hidden inside commercial software. The pipeline was to be validated against the report issued by an accredited clinical laboratory for the same specimen.</a:t>
            </a:r>
          </a:p>
        </p:txBody>
      </p:sp>
      <p:sp>
        <p:nvSpPr>
          <p:cNvPr id="4" name="TextBox 3"/>
          <p:cNvSpPr txBox="1"/>
          <p:nvPr/>
        </p:nvSpPr>
        <p:spPr>
          <a:xfrm>
            <a:off x="640080" y="3337560"/>
            <a:ext cx="10881360" cy="3017520"/>
          </a:xfrm>
          <a:prstGeom prst="rect">
            <a:avLst/>
          </a:prstGeom>
          <a:noFill/>
        </p:spPr>
        <p:txBody>
          <a:bodyPr wrap="square">
            <a:spAutoFit/>
          </a:bodyPr>
          <a:lstStyle/>
          <a:p>
            <a:r>
              <a:rPr sz="1400" b="1" i="0">
                <a:solidFill>
                  <a:srgbClr val="1A1A1A"/>
                </a:solidFill>
                <a:latin typeface="Times New Roman"/>
              </a:rPr>
              <a:t>OUTCOMES</a:t>
            </a:r>
          </a:p>
          <a:p>
            <a:pPr>
              <a:spcAft>
                <a:spcPts val="500"/>
              </a:spcAft>
            </a:pPr>
            <a:r>
              <a:rPr sz="1200" b="0" i="0">
                <a:solidFill>
                  <a:srgbClr val="1A1A1A"/>
                </a:solidFill>
                <a:latin typeface="Times New Roman"/>
              </a:rPr>
              <a:t>1.  A reproducible Snakemake + Bioconda pipeline covering quality control, barcode-aware deduplication, tumour-only somatic calling, annotation, clinical tiering, RNA fusion analysis and reporting.</a:t>
            </a:r>
          </a:p>
          <a:p>
            <a:pPr>
              <a:spcAft>
                <a:spcPts val="500"/>
              </a:spcAft>
            </a:pPr>
            <a:r>
              <a:rPr sz="1200" b="0" i="0">
                <a:solidFill>
                  <a:srgbClr val="1A1A1A"/>
                </a:solidFill>
                <a:latin typeface="Times New Roman"/>
              </a:rPr>
              <a:t>2.  Independent recovery of the accredited laboratory's finding: IDH1 p.Arg132Cys at an allele fraction of 0.2814 against the laboratory's 0.281 — 1 of 1 reported variants, none missed.</a:t>
            </a:r>
          </a:p>
          <a:p>
            <a:pPr>
              <a:spcAft>
                <a:spcPts val="500"/>
              </a:spcAft>
            </a:pPr>
            <a:r>
              <a:rPr sz="1200" b="0" i="0">
                <a:solidFill>
                  <a:srgbClr val="1A1A1A"/>
                </a:solidFill>
                <a:latin typeface="Times New Roman"/>
              </a:rPr>
              <a:t>3.  Identification of the assay chemistry from the raw reads alone, later confirmed by the clinical report, and reconstruction of the panel design from the sequencing data.</a:t>
            </a:r>
          </a:p>
          <a:p>
            <a:pPr>
              <a:spcAft>
                <a:spcPts val="500"/>
              </a:spcAft>
            </a:pPr>
            <a:r>
              <a:rPr sz="1200" b="0" i="0">
                <a:solidFill>
                  <a:srgbClr val="1A1A1A"/>
                </a:solidFill>
                <a:latin typeface="Times New Roman"/>
              </a:rPr>
              <a:t>4.  Artefact screening for both arms, which identified a single chemistry-derived mechanism explaining both the excess DNA variant calls and all 20 candidate RNA fusions.</a:t>
            </a:r>
          </a:p>
          <a:p>
            <a:pPr>
              <a:spcAft>
                <a:spcPts val="500"/>
              </a:spcAft>
            </a:pPr>
            <a:r>
              <a:rPr sz="1200" b="0" i="0">
                <a:solidFill>
                  <a:srgbClr val="1A1A1A"/>
                </a:solidFill>
                <a:latin typeface="Times New Roman"/>
              </a:rPr>
              <a:t>5.  A public repository containing the pipeline, a synthetic example dataset with a truth set, 38 automated tests, continuous integration and fourteen documentation pages.</a:t>
            </a:r>
          </a:p>
          <a:p>
            <a:pPr>
              <a:spcAft>
                <a:spcPts val="500"/>
              </a:spcAft>
            </a:pPr>
            <a:r>
              <a:rPr sz="1200" b="0" i="0">
                <a:solidFill>
                  <a:srgbClr val="1A1A1A"/>
                </a:solidFill>
                <a:latin typeface="Times New Roman"/>
              </a:rPr>
              <a:t>6.  A six-page interactive dashboard presenting variants, fusions, pathways, therapies and the limits of the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