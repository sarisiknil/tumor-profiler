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965960"/>
            <a:ext cx="10058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ECEFF4"/>
                </a:solidFill>
                <a:latin typeface="Times New Roman"/>
              </a:rPr>
              <a:t>Educational DNA–RNA</a:t>
            </a:r>
          </a:p>
          <a:p>
            <a:r>
              <a:rPr sz="4400" b="1" i="0">
                <a:solidFill>
                  <a:srgbClr val="ECEFF4"/>
                </a:solidFill>
                <a:latin typeface="Times New Roman"/>
              </a:rPr>
              <a:t>Tumour Profiling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8992" y="3950208"/>
            <a:ext cx="1828800" cy="4572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16052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9AA4B2"/>
                </a:solidFill>
                <a:latin typeface="Times New Roman"/>
              </a:rPr>
              <a:t>Building a clinical-grade genomic workflow in the open — and measuring it against an accredited laboratory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53212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00000"/>
                </a:solidFill>
                <a:latin typeface="Times New Roman"/>
              </a:rPr>
              <a:t>[NAME · PROGRAMME]   ·   [COMPANY]   ·   [DATES]   ·   supervisor [NAME]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417320"/>
            <a:ext cx="10789920" cy="18288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 i="1">
                <a:solidFill>
                  <a:srgbClr val="ECEFF4"/>
                </a:solidFill>
                <a:latin typeface="Times New Roman"/>
              </a:rPr>
              <a:t>“What can we understand about a person's disease</a:t>
            </a:r>
          </a:p>
          <a:p>
            <a:r>
              <a:rPr sz="2700" b="0" i="1">
                <a:solidFill>
                  <a:srgbClr val="ECEFF4"/>
                </a:solidFill>
                <a:latin typeface="Times New Roman"/>
              </a:rPr>
              <a:t>by looking at their tumour's genetic material?”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06070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A biopsy is sequenced and a two-page clinical report names a few mutations and the drugs that target them.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What happens in between is invisible: the software is commercial and closed, the thresholds undocumented, the reasoning not shown.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This project builds that chain in the open — then checks it against the real clinical report for the same specimen.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5B9BD5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CEFF4"/>
                </a:solidFill>
                <a:latin typeface="Times New Roman"/>
              </a:rPr>
              <a:t>Identifying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AA4B2"/>
                </a:solidFill>
                <a:latin typeface="Times New Roman"/>
              </a:rPr>
              <a:t>Before any biology: which assay produced these reads?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B9BD5"/>
                </a:solidFill>
                <a:latin typeface="Times New Roman"/>
              </a:rPr>
              <a:t>READ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The assay is written into the 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1371600" cy="4114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2"/>
            <a:ext cx="10789920" cy="123444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02536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CEFF4"/>
                </a:solidFill>
                <a:latin typeface="Times New Roman"/>
              </a:rPr>
              <a:t>Read 1    [ 12 random bases = molecular barcode ][ fixed adapter ][ patient DNA … ]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ECEFF4"/>
                </a:solidFill>
                <a:latin typeface="Times New Roman"/>
              </a:rPr>
              <a:t>Read 2    [ gene-specific primer ][ patient DNA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19272"/>
            <a:ext cx="10607040" cy="299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A position where all four bases occur equally is random; one base at &gt;98 % is synthetic. The transition marks the end of the barcode.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Only ~2,200 distinct sequences start 80 % of Read 2 → a primer-based targeted panel.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Conclusion: anchored multiplex PCR — confirmed afterwards by the clinical report (Archer VariantPlex + FusionPlex).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709160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7375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98.7 %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967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of DNA reads match the predicted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709160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87375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98.7 %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56967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of RNA reads match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4709160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873752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8 + 10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69671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index reads — the adapter kit's signature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5B9BD5"/>
                </a:solidFill>
                <a:latin typeface="Times New Roman"/>
              </a:rPr>
              <a:t>DASHBOARD · QUALITY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ECEFF4"/>
                </a:solidFill>
                <a:latin typeface="Times New Roman"/>
              </a:rPr>
              <a:t>The barcode is visible in the base composition</a:t>
            </a:r>
          </a:p>
        </p:txBody>
      </p:sp>
      <p:pic>
        <p:nvPicPr>
          <p:cNvPr id="5" name="Picture 4" descr="crop_02_qc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71337"/>
            <a:ext cx="10607040" cy="4198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471337"/>
            <a:ext cx="10607040" cy="4198789"/>
          </a:xfrm>
          <a:prstGeom prst="rect">
            <a:avLst/>
          </a:prstGeom>
          <a:noFill/>
          <a:ln w="15875">
            <a:solidFill>
              <a:srgbClr val="181D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0076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9AA4B2"/>
                </a:solidFill>
                <a:latin typeface="Times New Roman"/>
              </a:rPr>
              <a:t>Positions 1–12 carry all four bases; positions 13–26 are a single fixed base per position — the adapter. The insert begins at base 27.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5B9BD5"/>
                </a:solidFill>
                <a:latin typeface="Times New Roma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CEFF4"/>
                </a:solidFill>
                <a:latin typeface="Times New Roman"/>
              </a:rPr>
              <a:t>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AA4B2"/>
                </a:solidFill>
                <a:latin typeface="Times New Roman"/>
              </a:rPr>
              <a:t>Split by memory, not by convenience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B9BD5"/>
                </a:solidFill>
                <a:latin typeface="Times New Roman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Where each step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1371600" cy="4114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56232"/>
          <a:ext cx="106070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/>
                        </a:rPr>
                        <a:t>Runs 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Read structure, primer 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project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laptop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Barcode extraction, alignment, deduplication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UMI-tools, BWA-MEM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Galaxy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Primer clipping,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samtools, mosdepth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Galaxy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Somatic calling ×3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Mutect2, LoFreq, FreeBayes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Galaxy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RNA alignment and fusions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STAR, Arriba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Galaxy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Annotation, tiering, report,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VEP REST, CIViC, project 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Times New Roman"/>
                        </a:rPr>
                        <a:t>laptop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074920"/>
            <a:ext cx="10789920" cy="77724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074920"/>
            <a:ext cx="50292" cy="77724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193792"/>
            <a:ext cx="104241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CEFF4"/>
                </a:solidFill>
                <a:latin typeface="Times New Roman"/>
              </a:rPr>
              <a:t>Aligning to the human genome needs ~6 GB (BWA) and ~31 GB (STAR). The machine had 8 GB — so the heavy half runs on the free public Galaxy service and the interpretation locally.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5B9BD5"/>
                </a:solidFill>
                <a:latin typeface="Times New Roman"/>
              </a:rPr>
              <a:t>DEDUPLICATION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Counting molecules, not 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1371600" cy="4114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2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0824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5.7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437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sequencing reads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56232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20824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2.9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437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unique molecules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856232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20824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2.09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437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molecules per amplicon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1"/>
            <a:ext cx="10607040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Every molecule from one amplicon starts at the same coordinate, so coordinate-based duplicate marking would collapse them all into one.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With only ~2 distinct molecules per start position, that would discard most of the evidence.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The experiment is a 2.9-million-molecule measurement, not a 5.5-million-read one — and the confidence in every variant follows from the smaller number.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5B9BD5"/>
                </a:solidFill>
                <a:latin typeface="Times New Roman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CEFF4"/>
                </a:solidFill>
                <a:latin typeface="Times New Roman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AA4B2"/>
                </a:solidFill>
                <a:latin typeface="Times New Roman"/>
              </a:rPr>
              <a:t>Measured against an accredited laboratory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CAF7D"/>
                </a:solidFill>
                <a:latin typeface="Times New Roman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The pipeline recovered the laboratory's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1371600" cy="41148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2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0824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4CAF7D"/>
                </a:solidFill>
                <a:latin typeface="Times New Roman"/>
              </a:rPr>
              <a:t>0.281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437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laboratory allele fraction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56232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20824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4CAF7D"/>
                </a:solidFill>
                <a:latin typeface="Times New Roman"/>
              </a:rPr>
              <a:t>0.2814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437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measured 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856232"/>
            <a:ext cx="338328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20824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4CAF7D"/>
                </a:solidFill>
                <a:latin typeface="Times New Roman"/>
              </a:rPr>
              <a:t>1 /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4378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reported variants recovered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85032"/>
            <a:ext cx="10789920" cy="82296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85032"/>
            <a:ext cx="50292" cy="822960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80390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CEFF4"/>
                </a:solidFill>
                <a:latin typeface="Times New Roman"/>
              </a:rPr>
              <a:t>IDH1 p.Arg132Cys — supported by all three callers. Different aligners, different callers, different reference builds, different deduplication: the same answer to three decimals.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10607040" cy="1618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i="0">
                <a:solidFill>
                  <a:srgbClr val="4CAF7D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The laboratory used GRCh37 with the vendor's closed software; this pipeline used GRCh38 with three open callers.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4CAF7D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Primer clipping alone moved the estimate from 0.2636 to 0.2814 — measured, not assumed.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4CAF7D"/>
                </a:solidFill>
                <a:latin typeface="Times New Roman"/>
              </a:rPr>
              <a:t>DASHBOARD ·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ECEFF4"/>
                </a:solidFill>
                <a:latin typeface="Times New Roman"/>
              </a:rPr>
              <a:t>Every call keeps the reason it was classified</a:t>
            </a:r>
          </a:p>
        </p:txBody>
      </p:sp>
      <p:pic>
        <p:nvPicPr>
          <p:cNvPr id="5" name="Picture 4" descr="crop_03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12102"/>
            <a:ext cx="10607040" cy="41172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512102"/>
            <a:ext cx="10607040" cy="4117259"/>
          </a:xfrm>
          <a:prstGeom prst="rect">
            <a:avLst/>
          </a:prstGeom>
          <a:noFill/>
          <a:ln w="15875">
            <a:solidFill>
              <a:srgbClr val="181D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0076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9AA4B2"/>
                </a:solidFill>
                <a:latin typeface="Times New Roman"/>
              </a:rPr>
              <a:t>39 likely somatic, 136 likely germline, 1,543 with insufficient evidence — nothing is silently deleted.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D89B3C"/>
                </a:solidFill>
                <a:latin typeface="Times New Roman"/>
              </a:rPr>
              <a:t>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Where the two disagree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1371600" cy="41148"/>
          </a:xfrm>
          <a:prstGeom prst="rect">
            <a:avLst/>
          </a:prstGeom>
          <a:solidFill>
            <a:srgbClr val="D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2"/>
            <a:ext cx="5257800" cy="132588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CEFF4"/>
                </a:solidFill>
                <a:latin typeface="Times New Roman"/>
              </a:rPr>
              <a:t>Laboratory:  Tier I-A</a:t>
            </a:r>
          </a:p>
          <a:p>
            <a:r>
              <a:rPr sz="1300" b="0" i="0">
                <a:solidFill>
                  <a:srgbClr val="9AA4B2"/>
                </a:solidFill>
                <a:latin typeface="Times New Roman"/>
              </a:rPr>
              <a:t>cited a clinical guideline for this tumour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56232"/>
            <a:ext cx="5257800" cy="132588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3911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D89B3C"/>
                </a:solidFill>
                <a:latin typeface="Times New Roman"/>
              </a:rPr>
              <a:t>This pipeline:  Tier II</a:t>
            </a:r>
          </a:p>
          <a:p>
            <a:r>
              <a:rPr sz="1300" b="0" i="0">
                <a:solidFill>
                  <a:srgbClr val="9AA4B2"/>
                </a:solidFill>
                <a:latin typeface="Times New Roman"/>
              </a:rPr>
              <a:t>open evidence exists only for other tumour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02152"/>
            <a:ext cx="1060704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i="0">
                <a:solidFill>
                  <a:srgbClr val="D89B3C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Both are defensible. The tiering rule refuses Tier I on evidence from a different disease — which is what the AMP/ASCO/CAP guideline requires.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D89B3C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The gap measures the uneven tumour-type coverage of free knowledge bases, not a disagreement about biology.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D89B3C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This is the project's clearest argument for why automated tiering needs curated knowledge or expert review.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55A5A"/>
                </a:solidFill>
                <a:latin typeface="Times New Roman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One artefact with two 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1371600" cy="41148"/>
          </a:xfrm>
          <a:prstGeom prst="rect">
            <a:avLst/>
          </a:prstGeom>
          <a:solidFill>
            <a:srgbClr val="C5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56232"/>
            <a:ext cx="5257800" cy="178308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C55A5A"/>
                </a:solidFill>
                <a:latin typeface="Times New Roman"/>
              </a:rPr>
              <a:t>DNA arm</a:t>
            </a:r>
          </a:p>
          <a:p>
            <a:pPr>
              <a:spcBef>
                <a:spcPts val="700"/>
              </a:spcBef>
            </a:pPr>
            <a:r>
              <a:rPr sz="1400" b="0" i="0">
                <a:solidFill>
                  <a:srgbClr val="ECEFF4"/>
                </a:solidFill>
                <a:latin typeface="Times New Roman"/>
              </a:rPr>
              <a:t>▪  58 % of somatic SNVs share one substitution class</a:t>
            </a:r>
          </a:p>
          <a:p>
            <a:pPr>
              <a:spcBef>
                <a:spcPts val="700"/>
              </a:spcBef>
            </a:pPr>
            <a:r>
              <a:rPr sz="1400" b="0" i="0">
                <a:solidFill>
                  <a:srgbClr val="ECEFF4"/>
                </a:solidFill>
                <a:latin typeface="Times New Roman"/>
              </a:rPr>
              <a:t>▪  Four “independent mutations” within 35 bases in one gene</a:t>
            </a:r>
          </a:p>
          <a:p>
            <a:pPr>
              <a:spcBef>
                <a:spcPts val="700"/>
              </a:spcBef>
            </a:pPr>
            <a:r>
              <a:rPr sz="1400" b="0" i="0">
                <a:solidFill>
                  <a:srgbClr val="ECEFF4"/>
                </a:solidFill>
                <a:latin typeface="Times New Roman"/>
              </a:rPr>
              <a:t>▪  23 of 39 candidates flagged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56232"/>
            <a:ext cx="5257800" cy="178308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02536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C55A5A"/>
                </a:solidFill>
                <a:latin typeface="Times New Roman"/>
              </a:rPr>
              <a:t>RNA arm</a:t>
            </a:r>
          </a:p>
          <a:p>
            <a:pPr>
              <a:spcBef>
                <a:spcPts val="700"/>
              </a:spcBef>
            </a:pPr>
            <a:r>
              <a:rPr sz="1400" b="0" i="0">
                <a:solidFill>
                  <a:srgbClr val="ECEFF4"/>
                </a:solidFill>
                <a:latin typeface="Times New Roman"/>
              </a:rPr>
              <a:t>▪  20 fusions called, 166,694 discarded</a:t>
            </a:r>
          </a:p>
          <a:p>
            <a:pPr>
              <a:spcBef>
                <a:spcPts val="700"/>
              </a:spcBef>
            </a:pPr>
            <a:r>
              <a:rPr sz="1400" b="0" i="0">
                <a:solidFill>
                  <a:srgbClr val="ECEFF4"/>
                </a:solidFill>
                <a:latin typeface="Times New Roman"/>
              </a:rPr>
              <a:t>▪  FGFR1/2/3 joined in every combination, both orientations</a:t>
            </a:r>
          </a:p>
          <a:p>
            <a:pPr>
              <a:spcBef>
                <a:spcPts val="700"/>
              </a:spcBef>
            </a:pPr>
            <a:r>
              <a:rPr sz="1400" b="0" i="0">
                <a:solidFill>
                  <a:srgbClr val="ECEFF4"/>
                </a:solidFill>
                <a:latin typeface="Times New Roman"/>
              </a:rPr>
              <a:t>▪  All 20 flagged — the laboratory reported none, and we agree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67912"/>
            <a:ext cx="10789920" cy="9144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867912"/>
            <a:ext cx="50292" cy="914400"/>
          </a:xfrm>
          <a:prstGeom prst="rect">
            <a:avLst/>
          </a:prstGeom>
          <a:solidFill>
            <a:srgbClr val="C5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986784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CEFF4"/>
                </a:solidFill>
                <a:latin typeface="Times New Roman"/>
              </a:rPr>
              <a:t>One mechanism explains both: cross-priming between the amplicons the assay amplifies in a single tube. An unscreened reading would have reported an FGFR2 fusion — the most consequential false positive available in this cancer 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55A5A"/>
                </a:solidFill>
                <a:latin typeface="Times New Roman"/>
              </a:rPr>
              <a:t>DASHBOARD · 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ECEFF4"/>
                </a:solidFill>
                <a:latin typeface="Times New Roman"/>
              </a:rPr>
              <a:t>Screening turns twenty candidates into a negative</a:t>
            </a:r>
          </a:p>
        </p:txBody>
      </p:sp>
      <p:pic>
        <p:nvPicPr>
          <p:cNvPr id="5" name="Picture 4" descr="crop_04_rna_fu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71337"/>
            <a:ext cx="10607040" cy="41987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471337"/>
            <a:ext cx="10607040" cy="4198789"/>
          </a:xfrm>
          <a:prstGeom prst="rect">
            <a:avLst/>
          </a:prstGeom>
          <a:noFill/>
          <a:ln w="15875">
            <a:solidFill>
              <a:srgbClr val="181D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0076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9AA4B2"/>
                </a:solidFill>
                <a:latin typeface="Times New Roman"/>
              </a:rPr>
              <a:t>Each flag names its reason: reciprocal calls, paralogue pairs, joins between two primed panel genes, promiscuous or unnamed partners.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926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5B9BD5"/>
                </a:solidFill>
                <a:latin typeface="Times New Roman"/>
              </a:rPr>
              <a:t>DASHBOARD ·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789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ECEFF4"/>
                </a:solidFill>
                <a:latin typeface="Times New Roman"/>
              </a:rPr>
              <a:t>From a gene list to a picture of the cell</a:t>
            </a:r>
          </a:p>
        </p:txBody>
      </p:sp>
      <p:pic>
        <p:nvPicPr>
          <p:cNvPr id="5" name="Picture 4" descr="crop_05_pathw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095" y="1170432"/>
            <a:ext cx="8383329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89095" y="1170432"/>
            <a:ext cx="8383329" cy="4800600"/>
          </a:xfrm>
          <a:prstGeom prst="rect">
            <a:avLst/>
          </a:prstGeom>
          <a:noFill/>
          <a:ln w="15875">
            <a:solidFill>
              <a:srgbClr val="181D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0076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9AA4B2"/>
                </a:solidFill>
                <a:latin typeface="Times New Roman"/>
              </a:rPr>
              <a:t>Membership mapping against the ten canonical oncogenic pathways — deliberately not an enrichment analysis, since the gene universe is fixed by the assay.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D89B3C"/>
                </a:solidFill>
                <a:latin typeface="Times New Roman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What this data cannot tell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554480"/>
            <a:ext cx="1371600" cy="41148"/>
          </a:xfrm>
          <a:prstGeom prst="rect">
            <a:avLst/>
          </a:prstGeom>
          <a:solidFill>
            <a:srgbClr val="D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10607040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D89B3C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Whether a variant is inherited — no normal tissue was sequenced.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D89B3C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Roughly half of the nominal target territory had no coverage at all.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D89B3C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Genes frequently mutated in this cancer type are absent from the panel: a negative there is an untested region, not an absence of mutation.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D89B3C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Mutational burden — 115.18 → 47.12 per Mb after screening; both implausible, and the assessable territory is far too small.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D89B3C"/>
                </a:solidFill>
                <a:latin typeface="Times New Roman"/>
              </a:rPr>
              <a:t>▪   </a:t>
            </a:r>
            <a:r>
              <a:rPr sz="1700" b="0" i="0">
                <a:solidFill>
                  <a:srgbClr val="ECEFF4"/>
                </a:solidFill>
                <a:latin typeface="Times New Roman"/>
              </a:rPr>
              <a:t>Microsatellite status: not determinable — as the accredited laboratory also concluded.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257800"/>
            <a:ext cx="10789920" cy="73152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257800"/>
            <a:ext cx="50292" cy="731520"/>
          </a:xfrm>
          <a:prstGeom prst="rect">
            <a:avLst/>
          </a:prstGeom>
          <a:solidFill>
            <a:srgbClr val="D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37667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CEFF4"/>
                </a:solidFill>
                <a:latin typeface="Times New Roman"/>
              </a:rPr>
              <a:t>Stating where the answers stop is what makes this a teaching object rather than a black box.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44168"/>
            <a:ext cx="1371600" cy="4114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245745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00025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20002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automated tests, run in CI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3290" y="1645920"/>
            <a:ext cx="245745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1889" y="1810512"/>
            <a:ext cx="200025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1889" y="2633472"/>
            <a:ext cx="20002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documentation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0780" y="1645920"/>
            <a:ext cx="245745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9380" y="1810512"/>
            <a:ext cx="200025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2633472"/>
            <a:ext cx="20002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dashboard 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8270" y="1645920"/>
            <a:ext cx="2457450" cy="160020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6870" y="1810512"/>
            <a:ext cx="200025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B9BD5"/>
                </a:solidFill>
                <a:latin typeface="Times New Roman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6870" y="2633472"/>
            <a:ext cx="200025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9AA4B2"/>
                </a:solidFill>
                <a:latin typeface="Times New Roman"/>
              </a:rPr>
              <a:t>execution modes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10607040" cy="2697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Reproducible Snakemake + Bioconda pipeline; heavy steps scripted end-to-end on Galaxy.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Synthetic example dataset over a real mini-reference with a truth set — the whole workflow runs and is tested without any patient data.</a:t>
            </a:r>
          </a:p>
          <a:p>
            <a:pPr>
              <a:spcAft>
                <a:spcPts val="1100"/>
              </a:spcAft>
            </a:pPr>
            <a:r>
              <a:rPr sz="1600" b="0" i="0">
                <a:solidFill>
                  <a:srgbClr val="5B9BD5"/>
                </a:solidFill>
                <a:latin typeface="Times New Roman"/>
              </a:rPr>
              <a:t>▪   </a:t>
            </a:r>
            <a:r>
              <a:rPr sz="1600" b="0" i="0">
                <a:solidFill>
                  <a:srgbClr val="ECEFF4"/>
                </a:solidFill>
                <a:latin typeface="Times New Roman"/>
              </a:rPr>
              <a:t>Public repository with setup instructions, worked examples and educational documentation.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00000"/>
                </a:solidFill>
                <a:latin typeface="Times New Roman"/>
              </a:rPr>
              <a:t>[REPOSITORY URL]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CEFF4"/>
                </a:solidFill>
                <a:latin typeface="Times New Roman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44168"/>
            <a:ext cx="1371600" cy="41148"/>
          </a:xfrm>
          <a:prstGeom prst="rect">
            <a:avLst/>
          </a:prstGeom>
          <a:solidFill>
            <a:srgbClr val="4CA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900" b="0" i="0">
                <a:solidFill>
                  <a:srgbClr val="4CAF7D"/>
                </a:solidFill>
                <a:latin typeface="Times New Roman"/>
              </a:rPr>
              <a:t>▪   </a:t>
            </a:r>
            <a:r>
              <a:rPr sz="1900" b="0" i="0">
                <a:solidFill>
                  <a:srgbClr val="ECEFF4"/>
                </a:solidFill>
                <a:latin typeface="Times New Roman"/>
              </a:rPr>
              <a:t>An open pipeline, on a laptop plus a free public service, reproduced an accredited laboratory's finding to three decimal places.</a:t>
            </a:r>
          </a:p>
          <a:p>
            <a:pPr>
              <a:spcAft>
                <a:spcPts val="1100"/>
              </a:spcAft>
            </a:pPr>
            <a:r>
              <a:rPr sz="1900" b="0" i="0">
                <a:solidFill>
                  <a:srgbClr val="4CAF7D"/>
                </a:solidFill>
                <a:latin typeface="Times New Roman"/>
              </a:rPr>
              <a:t>▪   </a:t>
            </a:r>
            <a:r>
              <a:rPr sz="1900" b="0" i="0">
                <a:solidFill>
                  <a:srgbClr val="ECEFF4"/>
                </a:solidFill>
                <a:latin typeface="Times New Roman"/>
              </a:rPr>
              <a:t>Every disagreement was explicable and measurable: evidence coverage, reporting thresholds, and one identifiable chemistry artefact.</a:t>
            </a:r>
          </a:p>
          <a:p>
            <a:pPr>
              <a:spcAft>
                <a:spcPts val="1100"/>
              </a:spcAft>
            </a:pPr>
            <a:r>
              <a:rPr sz="1900" b="0" i="0">
                <a:solidFill>
                  <a:srgbClr val="4CAF7D"/>
                </a:solidFill>
                <a:latin typeface="Times New Roman"/>
              </a:rPr>
              <a:t>▪   </a:t>
            </a:r>
            <a:r>
              <a:rPr sz="1900" b="0" i="0">
                <a:solidFill>
                  <a:srgbClr val="ECEFF4"/>
                </a:solidFill>
                <a:latin typeface="Times New Roman"/>
              </a:rPr>
              <a:t>The most useful property is not the agreement but the capacity to say precisely where the answers stop.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solidFill>
            <a:srgbClr val="18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120640"/>
            <a:ext cx="50292" cy="731520"/>
          </a:xfrm>
          <a:prstGeom prst="rect">
            <a:avLst/>
          </a:prstGeom>
          <a:solidFill>
            <a:srgbClr val="C5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239512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ECEFF4"/>
                </a:solidFill>
                <a:latin typeface="Times New Roman"/>
              </a:rPr>
              <a:t>Educational output. Not a diagnostic tool, not clinically validated, and not a basis for medical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825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AA4B2"/>
                </a:solidFill>
                <a:latin typeface="Times New Roman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