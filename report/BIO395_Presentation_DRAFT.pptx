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1920240"/>
            <a:ext cx="1051560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000" b="1" i="0">
                <a:solidFill>
                  <a:srgbClr val="1F4E79"/>
                </a:solidFill>
                <a:latin typeface="Times New Roman"/>
              </a:rPr>
              <a:t>Educational DNA–RNA Tumour Profiling</a:t>
            </a:r>
          </a:p>
          <a:p>
            <a:r>
              <a:rPr sz="4000" b="1" i="0">
                <a:solidFill>
                  <a:srgbClr val="1F4E79"/>
                </a:solidFill>
                <a:latin typeface="Times New Roman"/>
              </a:rPr>
              <a:t>Pipeline and Visualization Platform</a:t>
            </a:r>
          </a:p>
          <a:p>
            <a:pPr>
              <a:spcBef>
                <a:spcPts val="1800"/>
              </a:spcBef>
            </a:pPr>
            <a:r>
              <a:rPr sz="1700" b="0" i="1">
                <a:solidFill>
                  <a:srgbClr val="555555"/>
                </a:solidFill>
                <a:latin typeface="Times New Roman"/>
              </a:rPr>
              <a:t>Building a clinical-grade genomic workflow in the open, and measuring it against an accredited laboratory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4937760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 i="1">
                <a:solidFill>
                  <a:srgbClr val="C00000"/>
                </a:solidFill>
                <a:latin typeface="Times New Roman"/>
              </a:rPr>
              <a:t>[TO COMPLETE] Your name, programme, company, internship dates, supervisor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1F4E79"/>
                </a:solidFill>
                <a:latin typeface="Times New Roman"/>
              </a:rPr>
              <a:t>The question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05840" y="1828800"/>
            <a:ext cx="100584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0" i="1">
                <a:solidFill>
                  <a:srgbClr val="1F4E79"/>
                </a:solidFill>
                <a:latin typeface="Times New Roman"/>
              </a:rPr>
              <a:t>“What can we understand about a person's disease by looking at their tumour's genetic material?”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3200400"/>
            <a:ext cx="1088136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800" b="0" i="0">
                <a:solidFill>
                  <a:srgbClr val="1A1A1A"/>
                </a:solidFill>
                <a:latin typeface="Times New Roman"/>
              </a:rPr>
              <a:t>•  A tumour biopsy is sequenced, and a two-page clinical report names a few mutations and the drugs that target them.</a:t>
            </a:r>
          </a:p>
          <a:p>
            <a:pPr>
              <a:spcAft>
                <a:spcPts val="600"/>
              </a:spcAft>
            </a:pPr>
            <a:r>
              <a:rPr sz="1800" b="0" i="0">
                <a:solidFill>
                  <a:srgbClr val="1A1A1A"/>
                </a:solidFill>
                <a:latin typeface="Times New Roman"/>
              </a:rPr>
              <a:t>•  What happens in between is invisible: the software is commercial and closed, the thresholds are undocumented, and the reasoning is not shown.</a:t>
            </a:r>
          </a:p>
          <a:p>
            <a:pPr>
              <a:spcAft>
                <a:spcPts val="600"/>
              </a:spcAft>
            </a:pPr>
            <a:r>
              <a:rPr sz="1800" b="0" i="0">
                <a:solidFill>
                  <a:srgbClr val="1A1A1A"/>
                </a:solidFill>
                <a:latin typeface="Times New Roman"/>
              </a:rPr>
              <a:t>•  This project builds that chain in the open — and then checks it against the real clinical report for the same specimen.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1F4E79"/>
                </a:solidFill>
                <a:latin typeface="Times New Roman"/>
              </a:rPr>
              <a:t>What we started with</a:t>
            </a:r>
          </a:p>
          <a:p>
            <a:r>
              <a:rPr sz="1500" b="0" i="1">
                <a:solidFill>
                  <a:srgbClr val="555555"/>
                </a:solidFill>
                <a:latin typeface="Times New Roman"/>
              </a:rPr>
              <a:t>One biopsy, sequenced twice — and no documentation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822960" y="1737360"/>
          <a:ext cx="1051560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05200"/>
                <a:gridCol w="3505200"/>
                <a:gridCol w="3505200"/>
              </a:tblGrid>
              <a:tr h="438912">
                <a:tc>
                  <a:txBody>
                    <a:bodyPr/>
                    <a:lstStyle/>
                    <a:p>
                      <a:r>
                        <a:rPr sz="1300" b="1" i="0">
                          <a:solidFill>
                            <a:srgbClr val="1A1A1A"/>
                          </a:solidFill>
                          <a:latin typeface="Times New Roman"/>
                        </a:rPr>
                        <a:t/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1" i="0">
                          <a:solidFill>
                            <a:srgbClr val="1A1A1A"/>
                          </a:solidFill>
                          <a:latin typeface="Times New Roman"/>
                        </a:rPr>
                        <a:t>DNA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1" i="0">
                          <a:solidFill>
                            <a:srgbClr val="1A1A1A"/>
                          </a:solidFill>
                          <a:latin typeface="Times New Roman"/>
                        </a:rPr>
                        <a:t>RNA</a:t>
                      </a:r>
                    </a:p>
                  </a:txBody>
                  <a:tcPr/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Times New Roman"/>
                        </a:rPr>
                        <a:t>Read pairs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Times New Roman"/>
                        </a:rPr>
                        <a:t>5,542,544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Times New Roman"/>
                        </a:rPr>
                        <a:t>13,870,216</a:t>
                      </a:r>
                    </a:p>
                  </a:txBody>
                  <a:tcPr/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Times New Roman"/>
                        </a:rPr>
                        <a:t>Read length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Times New Roman"/>
                        </a:rPr>
                        <a:t>2 × 149 bp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Times New Roman"/>
                        </a:rPr>
                        <a:t>2 × 151 bp</a:t>
                      </a:r>
                    </a:p>
                  </a:txBody>
                  <a:tcPr/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Times New Roman"/>
                        </a:rPr>
                        <a:t>Instrument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Times New Roman"/>
                        </a:rPr>
                        <a:t>NextSeq 550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Times New Roman"/>
                        </a:rPr>
                        <a:t>NovaSeq 6000</a:t>
                      </a:r>
                    </a:p>
                  </a:txBody>
                  <a:tcPr/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Times New Roman"/>
                        </a:rPr>
                        <a:t>Design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Times New Roman"/>
                        </a:rPr>
                        <a:t>tumour only, no matched normal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Times New Roman"/>
                        </a:rPr>
                        <a:t>small fusion panel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685800" y="4206240"/>
            <a:ext cx="1088136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700" b="0" i="0">
                <a:solidFill>
                  <a:srgbClr val="1A1A1A"/>
                </a:solidFill>
                <a:latin typeface="Times New Roman"/>
              </a:rPr>
              <a:t>•  Nothing stated which assay produced the files. The first task was not analysis but identification.</a:t>
            </a:r>
          </a:p>
          <a:p>
            <a:pPr>
              <a:spcAft>
                <a:spcPts val="600"/>
              </a:spcAft>
            </a:pPr>
            <a:r>
              <a:rPr sz="1700" b="0" i="0">
                <a:solidFill>
                  <a:srgbClr val="1A1A1A"/>
                </a:solidFill>
                <a:latin typeface="Times New Roman"/>
              </a:rPr>
              <a:t>•  A clinical report for the same specimen existed — which made honest validation possible.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1F4E79"/>
                </a:solidFill>
                <a:latin typeface="Times New Roman"/>
              </a:rPr>
              <a:t>Identifying the assay from the reads alone</a:t>
            </a:r>
          </a:p>
          <a:p>
            <a:r>
              <a:rPr sz="1500" b="0" i="1">
                <a:solidFill>
                  <a:srgbClr val="555555"/>
                </a:solidFill>
                <a:latin typeface="Times New Roman"/>
              </a:rPr>
              <a:t>Base composition per position: random bases mark a barcode, a fixed base marks an adapter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737360"/>
            <a:ext cx="1060704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1" i="0">
                <a:solidFill>
                  <a:srgbClr val="1A1A1A"/>
                </a:solidFill>
                <a:latin typeface="Times New Roman"/>
              </a:rPr>
              <a:t>Read 1:  [ 12 random bases = molecular barcode ][ fixed adapter sequence ][ patient DNA … ]</a:t>
            </a:r>
          </a:p>
          <a:p>
            <a:r>
              <a:rPr sz="1800" b="1" i="0">
                <a:solidFill>
                  <a:srgbClr val="1A1A1A"/>
                </a:solidFill>
                <a:latin typeface="Times New Roman"/>
              </a:rPr>
              <a:t>Read 2:  [ gene-specific primer ][ patient DNA … ]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3200400"/>
            <a:ext cx="1088136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700" b="0" i="0">
                <a:solidFill>
                  <a:srgbClr val="1A1A1A"/>
                </a:solidFill>
                <a:latin typeface="Times New Roman"/>
              </a:rPr>
              <a:t>•  Only ~2,200 distinct sequences account for 80 % of Read-2 starts → a primer-based targeted panel.</a:t>
            </a:r>
          </a:p>
          <a:p>
            <a:pPr>
              <a:spcAft>
                <a:spcPts val="600"/>
              </a:spcAft>
            </a:pPr>
            <a:r>
              <a:rPr sz="1700" b="0" i="0">
                <a:solidFill>
                  <a:srgbClr val="1A1A1A"/>
                </a:solidFill>
                <a:latin typeface="Times New Roman"/>
              </a:rPr>
              <a:t>•  Index reads of 8 and 10 bases → a specific adapter kit.</a:t>
            </a:r>
          </a:p>
          <a:p>
            <a:pPr>
              <a:spcAft>
                <a:spcPts val="600"/>
              </a:spcAft>
            </a:pPr>
            <a:r>
              <a:rPr sz="1700" b="0" i="0">
                <a:solidFill>
                  <a:srgbClr val="1A1A1A"/>
                </a:solidFill>
                <a:latin typeface="Times New Roman"/>
              </a:rPr>
              <a:t>•  Conclusion: anchored multiplex PCR. Confirmed afterwards by the clinical report: Archer VariantPlex Expanded Solid Tumor (DNA) and FusionPlex Lung v2 (RNA).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555555"/>
                </a:solidFill>
                <a:latin typeface="Times New Roman"/>
              </a:rPr>
              <a:t>—  98.7 % of DNA reads and 98.7 % of RNA reads matched the predicted structure exactly.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1F4E79"/>
                </a:solidFill>
                <a:latin typeface="Times New Roman"/>
              </a:rPr>
              <a:t>Pipeline architecture</a:t>
            </a:r>
          </a:p>
          <a:p>
            <a:r>
              <a:rPr sz="1500" b="0" i="1">
                <a:solidFill>
                  <a:srgbClr val="555555"/>
                </a:solidFill>
                <a:latin typeface="Times New Roman"/>
              </a:rPr>
              <a:t>Split by memory, not by convenience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822960" y="1600200"/>
          <a:ext cx="10515600" cy="2834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05200"/>
                <a:gridCol w="3505200"/>
                <a:gridCol w="3505200"/>
              </a:tblGrid>
              <a:tr h="404948">
                <a:tc>
                  <a:txBody>
                    <a:bodyPr/>
                    <a:lstStyle/>
                    <a:p>
                      <a:r>
                        <a:rPr sz="1300" b="1" i="0">
                          <a:solidFill>
                            <a:srgbClr val="1A1A1A"/>
                          </a:solidFill>
                          <a:latin typeface="Times New Roman"/>
                        </a:rPr>
                        <a:t>Stage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1" i="0">
                          <a:solidFill>
                            <a:srgbClr val="1A1A1A"/>
                          </a:solidFill>
                          <a:latin typeface="Times New Roman"/>
                        </a:rPr>
                        <a:t>Tool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1" i="0">
                          <a:solidFill>
                            <a:srgbClr val="1A1A1A"/>
                          </a:solidFill>
                          <a:latin typeface="Times New Roman"/>
                        </a:rPr>
                        <a:t>Runs on</a:t>
                      </a:r>
                    </a:p>
                  </a:txBody>
                  <a:tcPr/>
                </a:tc>
              </a:tr>
              <a:tr h="404948"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Times New Roman"/>
                        </a:rPr>
                        <a:t>Read structure, primer inference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Times New Roman"/>
                        </a:rPr>
                        <a:t>project scripts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Times New Roman"/>
                        </a:rPr>
                        <a:t>laptop</a:t>
                      </a:r>
                    </a:p>
                  </a:txBody>
                  <a:tcPr/>
                </a:tc>
              </a:tr>
              <a:tr h="404948"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Times New Roman"/>
                        </a:rPr>
                        <a:t>Barcode extraction, alignment, deduplication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Times New Roman"/>
                        </a:rPr>
                        <a:t>UMI-tools, BWA-MEM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Times New Roman"/>
                        </a:rPr>
                        <a:t>Galaxy</a:t>
                      </a:r>
                    </a:p>
                  </a:txBody>
                  <a:tcPr/>
                </a:tc>
              </a:tr>
              <a:tr h="404948"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Times New Roman"/>
                        </a:rPr>
                        <a:t>Primer clipping, coverage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Times New Roman"/>
                        </a:rPr>
                        <a:t>samtools, mosdepth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Times New Roman"/>
                        </a:rPr>
                        <a:t>Galaxy</a:t>
                      </a:r>
                    </a:p>
                  </a:txBody>
                  <a:tcPr/>
                </a:tc>
              </a:tr>
              <a:tr h="404948"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Times New Roman"/>
                        </a:rPr>
                        <a:t>Somatic calling ×3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Times New Roman"/>
                        </a:rPr>
                        <a:t>Mutect2, LoFreq, FreeBayes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Times New Roman"/>
                        </a:rPr>
                        <a:t>Galaxy</a:t>
                      </a:r>
                    </a:p>
                  </a:txBody>
                  <a:tcPr/>
                </a:tc>
              </a:tr>
              <a:tr h="404948"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Times New Roman"/>
                        </a:rPr>
                        <a:t>RNA alignment and fusions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Times New Roman"/>
                        </a:rPr>
                        <a:t>STAR, Arriba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Times New Roman"/>
                        </a:rPr>
                        <a:t>Galaxy</a:t>
                      </a:r>
                    </a:p>
                  </a:txBody>
                  <a:tcPr/>
                </a:tc>
              </a:tr>
              <a:tr h="404952"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Times New Roman"/>
                        </a:rPr>
                        <a:t>Annotation, tiering, biomarkers, report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Times New Roman"/>
                        </a:rPr>
                        <a:t>VEP REST, CIViC, project scripts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Times New Roman"/>
                        </a:rPr>
                        <a:t>laptop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685800" y="4754880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 i="1">
                <a:solidFill>
                  <a:srgbClr val="555555"/>
                </a:solidFill>
                <a:latin typeface="Times New Roman"/>
              </a:rPr>
              <a:t>Human genome alignment needs ~6 GB (BWA) and ~31 GB (STAR); the available machine had 8 GB. The heavy half runs on the free public Galaxy service, the interpretation locally.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1F4E79"/>
                </a:solidFill>
                <a:latin typeface="Times New Roman"/>
              </a:rPr>
              <a:t>Counting molecules, not reads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737360"/>
            <a:ext cx="1088136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900" b="0" i="0">
                <a:solidFill>
                  <a:srgbClr val="1A1A1A"/>
                </a:solidFill>
                <a:latin typeface="Times New Roman"/>
              </a:rPr>
              <a:t>•  5,680,954 reads collapse to 2,859,626 unique molecules (1.99 reads per molecule).</a:t>
            </a:r>
          </a:p>
          <a:p>
            <a:pPr>
              <a:spcAft>
                <a:spcPts val="600"/>
              </a:spcAft>
            </a:pPr>
            <a:r>
              <a:rPr sz="1900" b="0" i="0">
                <a:solidFill>
                  <a:srgbClr val="1A1A1A"/>
                </a:solidFill>
                <a:latin typeface="Times New Roman"/>
              </a:rPr>
              <a:t>•  Only 2.09 distinct molecules per amplicon start position.</a:t>
            </a:r>
          </a:p>
          <a:p>
            <a:pPr>
              <a:spcAft>
                <a:spcPts val="600"/>
              </a:spcAft>
            </a:pPr>
            <a:r>
              <a:rPr sz="1900" b="0" i="0">
                <a:solidFill>
                  <a:srgbClr val="1A1A1A"/>
                </a:solidFill>
                <a:latin typeface="Times New Roman"/>
              </a:rPr>
              <a:t>•  That second number is why barcodes matter: every molecule from one amplicon starts at the same coordinate, so ordinary duplicate marking would collapse them all into one.</a:t>
            </a:r>
          </a:p>
          <a:p>
            <a:pPr>
              <a:spcAft>
                <a:spcPts val="600"/>
              </a:spcAft>
            </a:pPr>
            <a:r>
              <a:rPr sz="1900" b="0" i="0">
                <a:solidFill>
                  <a:srgbClr val="1A1A1A"/>
                </a:solidFill>
                <a:latin typeface="Times New Roman"/>
              </a:rPr>
              <a:t>•  The experiment is a 2.9-million-molecule measurement, not a 5.5-million-read one.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1F4E79"/>
                </a:solidFill>
                <a:latin typeface="Times New Roman"/>
              </a:rPr>
              <a:t>Somatic calling without a matched normal</a:t>
            </a:r>
          </a:p>
          <a:p>
            <a:r>
              <a:rPr sz="1500" b="0" i="1">
                <a:solidFill>
                  <a:srgbClr val="555555"/>
                </a:solidFill>
                <a:latin typeface="Times New Roman"/>
              </a:rPr>
              <a:t>Every variant could in principle be inherited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822960" y="1645920"/>
          <a:ext cx="4572000" cy="1645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/>
                <a:gridCol w="2286000"/>
              </a:tblGrid>
              <a:tr h="411480">
                <a:tc>
                  <a:txBody>
                    <a:bodyPr/>
                    <a:lstStyle/>
                    <a:p>
                      <a:r>
                        <a:rPr sz="1300" b="1" i="0">
                          <a:solidFill>
                            <a:srgbClr val="1A1A1A"/>
                          </a:solidFill>
                          <a:latin typeface="Times New Roman"/>
                        </a:rPr>
                        <a:t>Callers agreeing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1" i="0">
                          <a:solidFill>
                            <a:srgbClr val="1A1A1A"/>
                          </a:solidFill>
                          <a:latin typeface="Times New Roman"/>
                        </a:rPr>
                        <a:t>Variants</a:t>
                      </a:r>
                    </a:p>
                  </a:txBody>
                  <a:tcPr/>
                </a:tc>
              </a:tr>
              <a:tr h="411480"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Times New Roman"/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Times New Roman"/>
                        </a:rPr>
                        <a:t>1,573</a:t>
                      </a:r>
                    </a:p>
                  </a:txBody>
                  <a:tcPr/>
                </a:tc>
              </a:tr>
              <a:tr h="411480"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Times New Roman"/>
                        </a:rP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Times New Roman"/>
                        </a:rPr>
                        <a:t>54</a:t>
                      </a:r>
                    </a:p>
                  </a:txBody>
                  <a:tcPr/>
                </a:tc>
              </a:tr>
              <a:tr h="411480"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Times New Roman"/>
                        </a:rP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Times New Roman"/>
                        </a:rPr>
                        <a:t>91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6035040" y="1645920"/>
            <a:ext cx="548640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1A1A1A"/>
                </a:solidFill>
                <a:latin typeface="Times New Roman"/>
              </a:rPr>
              <a:t>•  No single caller is reliable here.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1A1A1A"/>
                </a:solidFill>
                <a:latin typeface="Times New Roman"/>
              </a:rPr>
              <a:t>•  1,573 of 1,718 positions were seen by one caller only.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1A1A1A"/>
                </a:solidFill>
                <a:latin typeface="Times New Roman"/>
              </a:rPr>
              <a:t>•  Agreement between independent callers is used as the filter.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1A1A1A"/>
                </a:solidFill>
                <a:latin typeface="Times New Roman"/>
              </a:rPr>
              <a:t>•  Population frequency, ClinVar and allele fraction then separate likely germline.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1A1A1A"/>
                </a:solidFill>
                <a:latin typeface="Times New Roman"/>
              </a:rPr>
              <a:t>•  Variants that cannot be resolved are flagged, never silently deleted.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5029200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0" i="1">
                <a:solidFill>
                  <a:srgbClr val="1A1A1A"/>
                </a:solidFill>
                <a:latin typeface="Times New Roman"/>
              </a:rPr>
              <a:t>Result: 39 likely somatic · 136 likely germline · 1543 insufficient evidence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1F4E79"/>
                </a:solidFill>
                <a:latin typeface="Times New Roman"/>
              </a:rPr>
              <a:t>The result</a:t>
            </a:r>
          </a:p>
          <a:p>
            <a:r>
              <a:rPr sz="1500" b="0" i="1">
                <a:solidFill>
                  <a:srgbClr val="555555"/>
                </a:solidFill>
                <a:latin typeface="Times New Roman"/>
              </a:rPr>
              <a:t>Two independent workflows, one specimen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822960" y="1737360"/>
          <a:ext cx="10515600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05200"/>
                <a:gridCol w="3505200"/>
                <a:gridCol w="3505200"/>
              </a:tblGrid>
              <a:tr h="396240">
                <a:tc>
                  <a:txBody>
                    <a:bodyPr/>
                    <a:lstStyle/>
                    <a:p>
                      <a:r>
                        <a:rPr sz="1500" b="1" i="0">
                          <a:solidFill>
                            <a:srgbClr val="1A1A1A"/>
                          </a:solidFill>
                          <a:latin typeface="Times New Roman"/>
                        </a:rPr>
                        <a:t/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500" b="1" i="0">
                          <a:solidFill>
                            <a:srgbClr val="1A1A1A"/>
                          </a:solidFill>
                          <a:latin typeface="Times New Roman"/>
                        </a:rPr>
                        <a:t>Accredited laboratory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500" b="1" i="0">
                          <a:solidFill>
                            <a:srgbClr val="1A1A1A"/>
                          </a:solidFill>
                          <a:latin typeface="Times New Roman"/>
                        </a:rPr>
                        <a:t>This pipeline</a:t>
                      </a:r>
                    </a:p>
                  </a:txBody>
                  <a:tcPr/>
                </a:tc>
              </a:tr>
              <a:tr h="396240"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A1A1A"/>
                          </a:solidFill>
                          <a:latin typeface="Times New Roman"/>
                        </a:rPr>
                        <a:t>Variant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A1A1A"/>
                          </a:solidFill>
                          <a:latin typeface="Times New Roman"/>
                        </a:rPr>
                        <a:t>IDH1 p.Arg132Cys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A1A1A"/>
                          </a:solidFill>
                          <a:latin typeface="Times New Roman"/>
                        </a:rPr>
                        <a:t>IDH1 p.Arg132Cys</a:t>
                      </a:r>
                    </a:p>
                  </a:txBody>
                  <a:tcPr/>
                </a:tc>
              </a:tr>
              <a:tr h="396240"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A1A1A"/>
                          </a:solidFill>
                          <a:latin typeface="Times New Roman"/>
                        </a:rPr>
                        <a:t>Allele fraction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A1A1A"/>
                          </a:solidFill>
                          <a:latin typeface="Times New Roman"/>
                        </a:rPr>
                        <a:t>0.281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A1A1A"/>
                          </a:solidFill>
                          <a:latin typeface="Times New Roman"/>
                        </a:rPr>
                        <a:t>0.2814</a:t>
                      </a:r>
                    </a:p>
                  </a:txBody>
                  <a:tcPr/>
                </a:tc>
              </a:tr>
              <a:tr h="396240"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A1A1A"/>
                          </a:solidFill>
                          <a:latin typeface="Times New Roman"/>
                        </a:rPr>
                        <a:t>Supported by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A1A1A"/>
                          </a:solidFill>
                          <a:latin typeface="Times New Roman"/>
                        </a:rPr>
                        <a:t>vendor software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A1A1A"/>
                          </a:solidFill>
                          <a:latin typeface="Times New Roman"/>
                        </a:rPr>
                        <a:t>3 of 3 callers</a:t>
                      </a:r>
                    </a:p>
                  </a:txBody>
                  <a:tcPr/>
                </a:tc>
              </a:tr>
              <a:tr h="396240"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A1A1A"/>
                          </a:solidFill>
                          <a:latin typeface="Times New Roman"/>
                        </a:rPr>
                        <a:t>Reference build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A1A1A"/>
                          </a:solidFill>
                          <a:latin typeface="Times New Roman"/>
                        </a:rPr>
                        <a:t>GRCh37 / hg19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A1A1A"/>
                          </a:solidFill>
                          <a:latin typeface="Times New Roman"/>
                        </a:rPr>
                        <a:t>GRCh38</a:t>
                      </a:r>
                    </a:p>
                  </a:txBody>
                  <a:tcPr/>
                </a:tc>
              </a:tr>
              <a:tr h="396240"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A1A1A"/>
                          </a:solidFill>
                          <a:latin typeface="Times New Roman"/>
                        </a:rPr>
                        <a:t>Reported variants recovered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A1A1A"/>
                          </a:solidFill>
                          <a:latin typeface="Times New Roman"/>
                        </a:rPr>
                        <a:t>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A1A1A"/>
                          </a:solidFill>
                          <a:latin typeface="Times New Roman"/>
                        </a:rPr>
                        <a:t>1 of 1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822960" y="4480560"/>
            <a:ext cx="1060704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900" b="1" i="0">
                <a:solidFill>
                  <a:srgbClr val="1F4E79"/>
                </a:solidFill>
                <a:latin typeface="Times New Roman"/>
              </a:rPr>
              <a:t>Different aligners, different callers, different reference builds, different deduplication — the same answer to three decimal places.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1F4E79"/>
                </a:solidFill>
                <a:latin typeface="Times New Roman"/>
              </a:rPr>
              <a:t>Where the two disagree — and why that is the interesting part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645920"/>
            <a:ext cx="1088136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700" b="0" i="0">
                <a:solidFill>
                  <a:srgbClr val="1A1A1A"/>
                </a:solidFill>
                <a:latin typeface="Times New Roman"/>
              </a:rPr>
              <a:t>•  Clinical tier: the laboratory says Tier I-A, this pipeline says Tier II.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555555"/>
                </a:solidFill>
                <a:latin typeface="Times New Roman"/>
              </a:rPr>
              <a:t>—  The laboratory cited a clinical guideline recording an approved therapy in this tumour type. The open knowledge bases hold that evidence only for other tumour types, and the tiering rule refuses Tier I on evidence from a different disease.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555555"/>
                </a:solidFill>
                <a:latin typeface="Times New Roman"/>
              </a:rPr>
              <a:t>—  The gap measures the uneven tumour-type coverage of free evidence sources — not a disagreement about biology.</a:t>
            </a:r>
          </a:p>
          <a:p>
            <a:pPr>
              <a:spcAft>
                <a:spcPts val="600"/>
              </a:spcAft>
            </a:pPr>
            <a:r>
              <a:rPr sz="1700" b="0" i="0">
                <a:solidFill>
                  <a:srgbClr val="1A1A1A"/>
                </a:solidFill>
                <a:latin typeface="Times New Roman"/>
              </a:rPr>
              <a:t>•  Candidate count: 39 likely somatic against one reported.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555555"/>
                </a:solidFill>
                <a:latin typeface="Times New Roman"/>
              </a:rPr>
              <a:t>—  Partly expected — the laboratory reports only what passes its clinical thresholds. The rest is technical, and measurable.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1F4E79"/>
                </a:solidFill>
                <a:latin typeface="Times New Roman"/>
              </a:rPr>
              <a:t>One artefact with two faces</a:t>
            </a:r>
          </a:p>
          <a:p>
            <a:r>
              <a:rPr sz="1500" b="0" i="1">
                <a:solidFill>
                  <a:srgbClr val="555555"/>
                </a:solidFill>
                <a:latin typeface="Times New Roman"/>
              </a:rPr>
              <a:t>Cross-priming between amplicons amplified in the same reaction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554480"/>
            <a:ext cx="521208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1" i="0">
                <a:solidFill>
                  <a:srgbClr val="1F4E79"/>
                </a:solidFill>
                <a:latin typeface="Times New Roman"/>
              </a:rPr>
              <a:t>DNA arm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1A1A1A"/>
                </a:solidFill>
                <a:latin typeface="Times New Roman"/>
              </a:rPr>
              <a:t>•  58 % of somatic SNVs share one substitution class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1A1A1A"/>
                </a:solidFill>
                <a:latin typeface="Times New Roman"/>
              </a:rPr>
              <a:t>•  Four “independent mutations” within 35 bases in one gene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1A1A1A"/>
                </a:solidFill>
                <a:latin typeface="Times New Roman"/>
              </a:rPr>
              <a:t>•  23 of 39 candidates flagged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309360" y="1554480"/>
            <a:ext cx="521208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1" i="0">
                <a:solidFill>
                  <a:srgbClr val="1F4E79"/>
                </a:solidFill>
                <a:latin typeface="Times New Roman"/>
              </a:rPr>
              <a:t>RNA arm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1A1A1A"/>
                </a:solidFill>
                <a:latin typeface="Times New Roman"/>
              </a:rPr>
              <a:t>•  20 fusions called, 166,694 discarded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1A1A1A"/>
                </a:solidFill>
                <a:latin typeface="Times New Roman"/>
              </a:rPr>
              <a:t>•  FGFR1/2/3 joined in every combination, in both orientations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1A1A1A"/>
                </a:solidFill>
                <a:latin typeface="Times New Roman"/>
              </a:rPr>
              <a:t>•  All 20 flagged; the laboratory reported none — we agree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5669280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0" i="1">
                <a:solidFill>
                  <a:srgbClr val="C00000"/>
                </a:solidFill>
                <a:latin typeface="Times New Roman"/>
              </a:rPr>
              <a:t>An unscreened reading would have reported an FGFR2 fusion — the single most consequential false positive available in this cancer type.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1F4E79"/>
                </a:solidFill>
                <a:latin typeface="Times New Roman"/>
              </a:rPr>
              <a:t>What this data cannot tell us</a:t>
            </a:r>
          </a:p>
          <a:p>
            <a:r>
              <a:rPr sz="1500" b="0" i="1">
                <a:solidFill>
                  <a:srgbClr val="555555"/>
                </a:solidFill>
                <a:latin typeface="Times New Roman"/>
              </a:rPr>
              <a:t>The limits are the point, not a disclaimer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645920"/>
            <a:ext cx="1088136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700" b="0" i="0">
                <a:solidFill>
                  <a:srgbClr val="1A1A1A"/>
                </a:solidFill>
                <a:latin typeface="Times New Roman"/>
              </a:rPr>
              <a:t>•  Whether a variant is inherited — no normal tissue was sequenced.</a:t>
            </a:r>
          </a:p>
          <a:p>
            <a:pPr>
              <a:spcAft>
                <a:spcPts val="600"/>
              </a:spcAft>
            </a:pPr>
            <a:r>
              <a:rPr sz="1700" b="0" i="0">
                <a:solidFill>
                  <a:srgbClr val="1A1A1A"/>
                </a:solidFill>
                <a:latin typeface="Times New Roman"/>
              </a:rPr>
              <a:t>•  Roughly half of the nominal target territory had no coverage at all.</a:t>
            </a:r>
          </a:p>
          <a:p>
            <a:pPr>
              <a:spcAft>
                <a:spcPts val="600"/>
              </a:spcAft>
            </a:pPr>
            <a:r>
              <a:rPr sz="1700" b="0" i="0">
                <a:solidFill>
                  <a:srgbClr val="1A1A1A"/>
                </a:solidFill>
                <a:latin typeface="Times New Roman"/>
              </a:rPr>
              <a:t>•  Genes frequently mutated in this cancer type are absent from the panel entirely: a negative there is an untested region, not an absence of mutation.</a:t>
            </a:r>
          </a:p>
          <a:p>
            <a:pPr>
              <a:spcAft>
                <a:spcPts val="600"/>
              </a:spcAft>
            </a:pPr>
            <a:r>
              <a:rPr sz="1700" b="0" i="0">
                <a:solidFill>
                  <a:srgbClr val="1A1A1A"/>
                </a:solidFill>
                <a:latin typeface="Times New Roman"/>
              </a:rPr>
              <a:t>•  Mutational burden: 115.18 → 47.12 per Mb after screening; both implausible for this tumour type, and the assessable territory is far too small.</a:t>
            </a:r>
          </a:p>
          <a:p>
            <a:pPr>
              <a:spcAft>
                <a:spcPts val="600"/>
              </a:spcAft>
            </a:pPr>
            <a:r>
              <a:rPr sz="1700" b="0" i="0">
                <a:solidFill>
                  <a:srgbClr val="1A1A1A"/>
                </a:solidFill>
                <a:latin typeface="Times New Roman"/>
              </a:rPr>
              <a:t>•  Microsatellite status: not determinable — as the accredited laboratory also concluded.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1F4E79"/>
                </a:solidFill>
                <a:latin typeface="Times New Roman"/>
              </a:rPr>
              <a:t>Deliverables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600200"/>
            <a:ext cx="1088136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700" b="0" i="0">
                <a:solidFill>
                  <a:srgbClr val="1A1A1A"/>
                </a:solidFill>
                <a:latin typeface="Times New Roman"/>
              </a:rPr>
              <a:t>•  Reproducible Snakemake + Bioconda pipeline, two execution modes (local example, Galaxy patient).</a:t>
            </a:r>
          </a:p>
          <a:p>
            <a:pPr>
              <a:spcAft>
                <a:spcPts val="600"/>
              </a:spcAft>
            </a:pPr>
            <a:r>
              <a:rPr sz="1700" b="0" i="0">
                <a:solidFill>
                  <a:srgbClr val="1A1A1A"/>
                </a:solidFill>
                <a:latin typeface="Times New Roman"/>
              </a:rPr>
              <a:t>•  Public repository with setup instructions and worked examples.</a:t>
            </a:r>
          </a:p>
          <a:p>
            <a:pPr>
              <a:spcAft>
                <a:spcPts val="600"/>
              </a:spcAft>
            </a:pPr>
            <a:r>
              <a:rPr sz="1700" b="0" i="0">
                <a:solidFill>
                  <a:srgbClr val="1A1A1A"/>
                </a:solidFill>
                <a:latin typeface="Times New Roman"/>
              </a:rPr>
              <a:t>•  Synthetic example dataset built over a real mini-reference, with a truth set — the whole workflow runs and is tested without any patient data.</a:t>
            </a:r>
          </a:p>
          <a:p>
            <a:pPr>
              <a:spcAft>
                <a:spcPts val="600"/>
              </a:spcAft>
            </a:pPr>
            <a:r>
              <a:rPr sz="1700" b="0" i="0">
                <a:solidFill>
                  <a:srgbClr val="1A1A1A"/>
                </a:solidFill>
                <a:latin typeface="Times New Roman"/>
              </a:rPr>
              <a:t>•  38 automated tests and continuous integration.</a:t>
            </a:r>
          </a:p>
          <a:p>
            <a:pPr>
              <a:spcAft>
                <a:spcPts val="600"/>
              </a:spcAft>
            </a:pPr>
            <a:r>
              <a:rPr sz="1700" b="0" i="0">
                <a:solidFill>
                  <a:srgbClr val="1A1A1A"/>
                </a:solidFill>
                <a:latin typeface="Times New Roman"/>
              </a:rPr>
              <a:t>•  Six-page interactive dashboard.</a:t>
            </a:r>
          </a:p>
          <a:p>
            <a:pPr>
              <a:spcAft>
                <a:spcPts val="600"/>
              </a:spcAft>
            </a:pPr>
            <a:r>
              <a:rPr sz="1700" b="0" i="0">
                <a:solidFill>
                  <a:srgbClr val="1A1A1A"/>
                </a:solidFill>
                <a:latin typeface="Times New Roman"/>
              </a:rPr>
              <a:t>•  Fourteen documentation pages: what each step measures, what it means, how it misleads.</a:t>
            </a:r>
          </a:p>
          <a:p>
            <a:pPr>
              <a:spcAft>
                <a:spcPts val="600"/>
              </a:spcAft>
            </a:pPr>
            <a:r>
              <a:rPr sz="1700" b="0" i="0">
                <a:solidFill>
                  <a:srgbClr val="1A1A1A"/>
                </a:solidFill>
                <a:latin typeface="Times New Roman"/>
              </a:rPr>
              <a:t>•  Validation against an accredited laboratory report.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5852160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 i="1">
                <a:solidFill>
                  <a:srgbClr val="C00000"/>
                </a:solidFill>
                <a:latin typeface="Times New Roman"/>
              </a:rPr>
              <a:t>[TO COMPLETE] Insert the repository URL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1F4E79"/>
                </a:solidFill>
                <a:latin typeface="Times New Roman"/>
              </a:rPr>
              <a:t>Conclusions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737360"/>
            <a:ext cx="1088136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900" b="0" i="0">
                <a:solidFill>
                  <a:srgbClr val="1A1A1A"/>
                </a:solidFill>
                <a:latin typeface="Times New Roman"/>
              </a:rPr>
              <a:t>•  An open pipeline, on a laptop plus a free public service, reproduced an accredited laboratory's finding to three decimal places.</a:t>
            </a:r>
          </a:p>
          <a:p>
            <a:pPr>
              <a:spcAft>
                <a:spcPts val="600"/>
              </a:spcAft>
            </a:pPr>
            <a:r>
              <a:rPr sz="1900" b="0" i="0">
                <a:solidFill>
                  <a:srgbClr val="1A1A1A"/>
                </a:solidFill>
                <a:latin typeface="Times New Roman"/>
              </a:rPr>
              <a:t>•  Every disagreement was explicable and measurable: evidence coverage, reporting thresholds, and one identifiable chemistry artefact.</a:t>
            </a:r>
          </a:p>
          <a:p>
            <a:pPr>
              <a:spcAft>
                <a:spcPts val="600"/>
              </a:spcAft>
            </a:pPr>
            <a:r>
              <a:rPr sz="1900" b="0" i="0">
                <a:solidFill>
                  <a:srgbClr val="1A1A1A"/>
                </a:solidFill>
                <a:latin typeface="Times New Roman"/>
              </a:rPr>
              <a:t>•  The most useful property is not the agreement but the capacity to state precisely where the answers stop — which is what makes it a teaching object rather than a black box.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5394960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0" i="1">
                <a:solidFill>
                  <a:srgbClr val="C00000"/>
                </a:solidFill>
                <a:latin typeface="Times New Roman"/>
              </a:rPr>
              <a:t>Not a diagnostic tool. Not validated for clinical use. Educational output only.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